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57" r:id="rId4"/>
    <p:sldId id="258" r:id="rId5"/>
    <p:sldId id="260" r:id="rId6"/>
    <p:sldId id="265" r:id="rId7"/>
    <p:sldId id="261" r:id="rId8"/>
    <p:sldId id="266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1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6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9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2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2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6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6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9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2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2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4134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3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7232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91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91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1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5761B-CDB4-4476-B869-54F9635F55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1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3A99-6A1C-1089-0978-0D1A881461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Aviation Risk Analysis &amp;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E0838-11CE-C91A-83A7-031E6542F7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1 Project</a:t>
            </a:r>
          </a:p>
          <a:p>
            <a:r>
              <a:rPr lang="en-US" dirty="0"/>
              <a:t>DANIEL OWUOR</a:t>
            </a:r>
          </a:p>
        </p:txBody>
      </p:sp>
    </p:spTree>
    <p:extLst>
      <p:ext uri="{BB962C8B-B14F-4D97-AF65-F5344CB8AC3E}">
        <p14:creationId xmlns:p14="http://schemas.microsoft.com/office/powerpoint/2010/main" val="124321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24E7-6D32-4579-2F94-973CC9ED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332B49-E053-5413-B05B-7D93C9E868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2422" y="2010831"/>
            <a:ext cx="737698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Context: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company is diversifying into commercial and private aviation and requires a deep understanding of operational risks to inform fleet acquisition.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Project Scope: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Evaluation of aviation accident data from 1962 to 2023 to determine safety records of various manufacturers and models.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Outcome: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Actionable recommendations for stakeholders to acquire a safe and reliable fleet.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000" b="1" dirty="0"/>
              <a:t>Data Source:</a:t>
            </a:r>
            <a:r>
              <a:rPr lang="en-US" sz="2000" dirty="0"/>
              <a:t> NTSB Aviation Accident Dataset (1962-2023)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552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484B-7148-62D4-3D6B-0810AB2A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DE5E5-3F89-DE96-952C-DEA3F6853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123" y="1678675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b="1" dirty="0"/>
              <a:t>The Problem: </a:t>
            </a:r>
            <a:r>
              <a:rPr lang="en-US" sz="2000" dirty="0"/>
              <a:t>The new aviation division has capital for investment but lacks historical data on operational risks. Purchasing without this insight poses significant safety and financial liability.</a:t>
            </a:r>
          </a:p>
          <a:p>
            <a:r>
              <a:rPr lang="en-US" sz="2000" b="1" dirty="0"/>
              <a:t>Key Objectives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Identify the top 3 low-risk aircraft categories and manufacturers.</a:t>
            </a:r>
          </a:p>
          <a:p>
            <a:pPr lvl="1"/>
            <a:r>
              <a:rPr lang="en-US" sz="2000" dirty="0"/>
              <a:t>Determine factors that increase accident severity (e.g., weather, phase of flight).</a:t>
            </a:r>
          </a:p>
          <a:p>
            <a:pPr lvl="1"/>
            <a:r>
              <a:rPr lang="en-US" sz="2000" dirty="0"/>
              <a:t>Provide evidence-based investment recommendations.</a:t>
            </a:r>
          </a:p>
          <a:p>
            <a:r>
              <a:rPr lang="en-US" sz="2000" b="1" dirty="0"/>
              <a:t>Stakeholders: </a:t>
            </a:r>
            <a:r>
              <a:rPr lang="en-US" sz="2000" dirty="0"/>
              <a:t>Head of Aviation Division (Purchasing), Investment Committee (Financial Risk), Operations Team (Reliability).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27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626A-AB36-3CA4-096D-D72B071E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Understanding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7740AB-501F-D22B-77EC-F22C487556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31069"/>
            <a:ext cx="7972396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/>
              <a:t>Dataset Overview</a:t>
            </a:r>
            <a:endParaRPr lang="en-US" sz="2000" dirty="0"/>
          </a:p>
          <a:p>
            <a:r>
              <a:rPr lang="en-US" sz="2000" dirty="0"/>
              <a:t>88,889 aviation accident records (1962-2023)</a:t>
            </a:r>
          </a:p>
          <a:p>
            <a:r>
              <a:rPr lang="en-US" sz="2000" dirty="0"/>
              <a:t>31 original features describing aircraft, events, and outcomes</a:t>
            </a:r>
          </a:p>
          <a:p>
            <a:r>
              <a:rPr lang="en-US" sz="2000" dirty="0"/>
              <a:t>Focused on 1990-2023 for modern aviation relevance</a:t>
            </a:r>
          </a:p>
          <a:p>
            <a:pPr marL="0" indent="0">
              <a:buNone/>
            </a:pPr>
            <a:r>
              <a:rPr lang="en-US" sz="2000" b="1" dirty="0"/>
              <a:t>Key Data Points Analyzed</a:t>
            </a:r>
            <a:endParaRPr lang="en-US" sz="2000" dirty="0"/>
          </a:p>
          <a:p>
            <a:r>
              <a:rPr lang="en-US" sz="2000" dirty="0"/>
              <a:t>Aircraft make, model, and category</a:t>
            </a:r>
          </a:p>
          <a:p>
            <a:r>
              <a:rPr lang="en-US" sz="2000" dirty="0"/>
              <a:t>Injury severity and counts (fatal, serious, minor)</a:t>
            </a:r>
          </a:p>
          <a:p>
            <a:r>
              <a:rPr lang="en-US" sz="2000" dirty="0"/>
              <a:t>Weather conditions and flight phase</a:t>
            </a:r>
          </a:p>
          <a:p>
            <a:r>
              <a:rPr lang="en-US" sz="2000" dirty="0"/>
              <a:t>Purpose of flight and damage extent</a:t>
            </a:r>
          </a:p>
          <a:p>
            <a:pPr marL="0" indent="0">
              <a:buNone/>
            </a:pPr>
            <a:r>
              <a:rPr lang="en-US" sz="2000" b="1" dirty="0"/>
              <a:t>Data Quality:</a:t>
            </a:r>
            <a:r>
              <a:rPr lang="en-US" sz="2000" dirty="0"/>
              <a:t> Addressed missing values, standardized categories, filtered for commercial relevance.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3752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A5ECB-743D-8B12-B8CA-8A90A9B8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Analysis - Risk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B8A8B-774C-EE67-EE1D-497AC58BF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970" y="1488613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Data Preparation</a:t>
            </a:r>
            <a:endParaRPr lang="en-US" sz="2000" dirty="0"/>
          </a:p>
          <a:p>
            <a:r>
              <a:rPr lang="en-US" sz="2000" dirty="0"/>
              <a:t>Standardized manufacturer and model names</a:t>
            </a:r>
          </a:p>
          <a:p>
            <a:r>
              <a:rPr lang="en-US" sz="2000" dirty="0"/>
              <a:t>Focused on post-1990 data for modern relevance</a:t>
            </a:r>
          </a:p>
          <a:p>
            <a:r>
              <a:rPr lang="en-US" sz="2000" dirty="0"/>
              <a:t>Created severity categories (Fatal, Non-Fatal Injury, etc.)</a:t>
            </a:r>
          </a:p>
          <a:p>
            <a:r>
              <a:rPr lang="en-US" sz="2000" dirty="0"/>
              <a:t>Filtered to manufacturers with ≥50 accidents for statistical significance</a:t>
            </a:r>
          </a:p>
          <a:p>
            <a:pPr marL="0" indent="0">
              <a:buNone/>
            </a:pPr>
            <a:r>
              <a:rPr lang="en-US" sz="2000" b="1" dirty="0"/>
              <a:t>Analytical Approach</a:t>
            </a:r>
            <a:endParaRPr lang="en-US" sz="2000" dirty="0"/>
          </a:p>
          <a:p>
            <a:r>
              <a:rPr lang="en-US" sz="2000" b="1" dirty="0"/>
              <a:t>Frequency Analysis:</a:t>
            </a:r>
            <a:r>
              <a:rPr lang="en-US" sz="2000" dirty="0"/>
              <a:t> Accident volume by manufacturer/model</a:t>
            </a:r>
          </a:p>
          <a:p>
            <a:r>
              <a:rPr lang="en-US" sz="2000" b="1" dirty="0"/>
              <a:t>Severity Analysis:</a:t>
            </a:r>
            <a:r>
              <a:rPr lang="en-US" sz="2000" dirty="0"/>
              <a:t> Fatality rates and injury outcomes</a:t>
            </a:r>
          </a:p>
          <a:p>
            <a:r>
              <a:rPr lang="en-US" sz="2000" b="1" dirty="0"/>
              <a:t>Contextual Analysis:</a:t>
            </a:r>
            <a:r>
              <a:rPr lang="en-US" sz="2000" dirty="0"/>
              <a:t> Weather, flight phase, and purpose impacts</a:t>
            </a:r>
          </a:p>
          <a:p>
            <a:r>
              <a:rPr lang="en-US" sz="2000" b="1" dirty="0"/>
              <a:t>Trend Analysis:</a:t>
            </a:r>
            <a:r>
              <a:rPr lang="en-US" sz="2000" dirty="0"/>
              <a:t> Safety improvements over time</a:t>
            </a:r>
          </a:p>
        </p:txBody>
      </p:sp>
    </p:spTree>
    <p:extLst>
      <p:ext uri="{BB962C8B-B14F-4D97-AF65-F5344CB8AC3E}">
        <p14:creationId xmlns:p14="http://schemas.microsoft.com/office/powerpoint/2010/main" val="311349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4737-4F5A-5044-CDB3-4FD1CF6C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18016"/>
            <a:ext cx="7427007" cy="1278466"/>
          </a:xfrm>
        </p:spPr>
        <p:txBody>
          <a:bodyPr>
            <a:normAutofit/>
          </a:bodyPr>
          <a:lstStyle/>
          <a:p>
            <a:r>
              <a:rPr lang="en-US" sz="3600" b="1" dirty="0"/>
              <a:t>Visualization 1 - Manufacturer Risk Profile</a:t>
            </a:r>
            <a:endParaRPr lang="en-US" sz="36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8BE3A03-4D45-0B87-CC75-98276A019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5144" y="2129356"/>
            <a:ext cx="6618798" cy="33695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DD24D-DBDA-567E-AFFE-0AD8C2E6F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9340" y="1496482"/>
            <a:ext cx="3854528" cy="2584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Key Findings:</a:t>
            </a:r>
            <a:endParaRPr lang="en-US" sz="2000" dirty="0"/>
          </a:p>
          <a:p>
            <a:r>
              <a:rPr lang="en-US" sz="2000" b="1" dirty="0"/>
              <a:t>Boeing, Cessna, Piper, Airbus, Bellanca</a:t>
            </a:r>
            <a:r>
              <a:rPr lang="en-US" sz="2000" dirty="0"/>
              <a:t> show moderate fatality rates despite high accident volumes</a:t>
            </a:r>
          </a:p>
          <a:p>
            <a:r>
              <a:rPr lang="en-US" sz="2000" b="1" dirty="0"/>
              <a:t>Robinson &amp; Bell helicopters</a:t>
            </a:r>
            <a:r>
              <a:rPr lang="en-US" sz="2000" dirty="0"/>
              <a:t> exhibit highest fatality rates (50-70%)</a:t>
            </a:r>
          </a:p>
          <a:p>
            <a:r>
              <a:rPr lang="en-US" sz="2000" dirty="0"/>
              <a:t>Industry average fatality rate: ~40%</a:t>
            </a:r>
          </a:p>
          <a:p>
            <a:pPr marL="0" indent="0">
              <a:buNone/>
            </a:pPr>
            <a:r>
              <a:rPr lang="en-US" sz="2000" b="1" dirty="0"/>
              <a:t>Business Insight:</a:t>
            </a:r>
            <a:r>
              <a:rPr lang="en-US" sz="2000" dirty="0"/>
              <a:t> Some manufacturers combine high operational volume with manageable risk profiles.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1059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CD97-47E8-B776-5723-67BDC050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5841"/>
          </a:xfrm>
        </p:spPr>
        <p:txBody>
          <a:bodyPr/>
          <a:lstStyle/>
          <a:p>
            <a:r>
              <a:rPr lang="en-US" b="1" dirty="0"/>
              <a:t>Aircraft Category Safety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E52B58-9474-1E9E-8730-CB6EB111E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271" y="1839650"/>
            <a:ext cx="4154158" cy="4914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/>
              <a:t>Key Findings:</a:t>
            </a:r>
            <a:endParaRPr lang="en-US" sz="2000" dirty="0"/>
          </a:p>
          <a:p>
            <a:r>
              <a:rPr lang="en-US" sz="2000" b="1" dirty="0"/>
              <a:t>Airplanes</a:t>
            </a:r>
            <a:r>
              <a:rPr lang="en-US" sz="2000" dirty="0"/>
              <a:t> dominate accident volume but show varied severity</a:t>
            </a:r>
          </a:p>
          <a:p>
            <a:r>
              <a:rPr lang="en-US" sz="2000" b="1" dirty="0"/>
              <a:t>Helicopters</a:t>
            </a:r>
            <a:r>
              <a:rPr lang="en-US" sz="2000" dirty="0"/>
              <a:t> show disproportionate fatal outcomes</a:t>
            </a:r>
          </a:p>
          <a:p>
            <a:r>
              <a:rPr lang="en-US" sz="2000" b="1" dirty="0"/>
              <a:t>Gliders/Balloons</a:t>
            </a:r>
            <a:r>
              <a:rPr lang="en-US" sz="2000" dirty="0"/>
              <a:t> have lower fatal rates but limited commercial application</a:t>
            </a:r>
          </a:p>
          <a:p>
            <a:pPr marL="0" indent="0">
              <a:buNone/>
            </a:pPr>
            <a:r>
              <a:rPr lang="en-US" sz="2000" dirty="0"/>
              <a:t>Fixed-wing aircraft offer better risk profiles for commercial operations than rotary-wing alternatives.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5D504-ECCE-1F5C-411E-451966178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397" y="2056159"/>
            <a:ext cx="6598085" cy="402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04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34FB-B781-F243-C0A2-1E444DE2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8016"/>
            <a:ext cx="7677526" cy="721436"/>
          </a:xfrm>
        </p:spPr>
        <p:txBody>
          <a:bodyPr>
            <a:normAutofit/>
          </a:bodyPr>
          <a:lstStyle/>
          <a:p>
            <a:r>
              <a:rPr lang="en-US" sz="3600" dirty="0"/>
              <a:t>Accident severity by phase of flight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A494AA-9767-7375-E7B9-605BC8DE1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3842" y="1686778"/>
            <a:ext cx="5879160" cy="37870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8FDA1-AC69-9F08-4C8F-84BCC8818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6710" y="1985962"/>
            <a:ext cx="3330994" cy="2745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Key Findings:</a:t>
            </a:r>
            <a:endParaRPr lang="en-US" sz="2000" dirty="0"/>
          </a:p>
          <a:p>
            <a:r>
              <a:rPr lang="en-US" sz="2000" b="1" dirty="0"/>
              <a:t>High risk phases: </a:t>
            </a:r>
            <a:r>
              <a:rPr lang="en-US" sz="2000" dirty="0"/>
              <a:t>most accidents occur during landing and takeoff.</a:t>
            </a:r>
          </a:p>
          <a:p>
            <a:r>
              <a:rPr lang="en-US" sz="2000" b="1" dirty="0"/>
              <a:t>Low risk phases: </a:t>
            </a:r>
            <a:r>
              <a:rPr lang="en-US" sz="2000" dirty="0"/>
              <a:t>during cruising and taxi</a:t>
            </a:r>
          </a:p>
        </p:txBody>
      </p:sp>
    </p:spTree>
    <p:extLst>
      <p:ext uri="{BB962C8B-B14F-4D97-AF65-F5344CB8AC3E}">
        <p14:creationId xmlns:p14="http://schemas.microsoft.com/office/powerpoint/2010/main" val="413192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E762-7D04-97B6-FB11-5C86CB1C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82" y="312198"/>
            <a:ext cx="8596668" cy="580373"/>
          </a:xfrm>
        </p:spPr>
        <p:txBody>
          <a:bodyPr>
            <a:noAutofit/>
          </a:bodyPr>
          <a:lstStyle/>
          <a:p>
            <a:r>
              <a:rPr lang="en-US" b="1" dirty="0"/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B3A4C8-C474-5885-6522-DF7718A89F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313" y="1349508"/>
            <a:ext cx="9341935" cy="519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Boeing, </a:t>
            </a:r>
            <a:r>
              <a:rPr lang="en-US" sz="2000" b="1" dirty="0"/>
              <a:t>CESSNA, PIPER, &amp; Airbus</a:t>
            </a:r>
            <a:endParaRPr lang="en-US" sz="2000" dirty="0"/>
          </a:p>
          <a:p>
            <a:r>
              <a:rPr lang="en-US" sz="2000" dirty="0"/>
              <a:t>Lower fatality rates (30-40%) compared to industry average</a:t>
            </a:r>
          </a:p>
          <a:p>
            <a:r>
              <a:rPr lang="en-US" sz="2000" dirty="0"/>
              <a:t>High operational volume provides extensive safety data</a:t>
            </a:r>
          </a:p>
          <a:p>
            <a:r>
              <a:rPr lang="en-US" sz="2000" dirty="0"/>
              <a:t>Established maintenance networks and training programs</a:t>
            </a:r>
          </a:p>
          <a:p>
            <a:pPr marL="0" indent="0">
              <a:buNone/>
            </a:pPr>
            <a:r>
              <a:rPr lang="en-US" sz="2000" b="1" dirty="0"/>
              <a:t>Limit Robinson &amp; bell helicopter acquisition.</a:t>
            </a:r>
            <a:endParaRPr lang="en-US" sz="2000" dirty="0"/>
          </a:p>
          <a:p>
            <a:r>
              <a:rPr lang="en-US" sz="2000" dirty="0"/>
              <a:t>Highest fatality rates among top manufacturers (50-70%)</a:t>
            </a:r>
          </a:p>
          <a:p>
            <a:r>
              <a:rPr lang="en-US" sz="2000" dirty="0"/>
              <a:t>Primarily used in higher-risk Personal/Instructional contexts</a:t>
            </a:r>
          </a:p>
          <a:p>
            <a:r>
              <a:rPr lang="en-US" sz="2000" dirty="0"/>
              <a:t>Weather sensitivity and operational complexity increase risk</a:t>
            </a:r>
          </a:p>
          <a:p>
            <a:pPr marL="0" indent="0">
              <a:buNone/>
            </a:pPr>
            <a:r>
              <a:rPr lang="en-US" sz="2000" b="1" dirty="0"/>
              <a:t>Implement phased operational strategy</a:t>
            </a:r>
            <a:endParaRPr lang="en-US" sz="2000" dirty="0"/>
          </a:p>
          <a:p>
            <a:r>
              <a:rPr lang="en-US" sz="2000" dirty="0"/>
              <a:t>Personal/Instructional flights dominate accident data but build experience</a:t>
            </a:r>
          </a:p>
          <a:p>
            <a:r>
              <a:rPr lang="en-US" sz="2000" dirty="0"/>
              <a:t>Commercial operations show better safety records per flight hour</a:t>
            </a:r>
          </a:p>
          <a:p>
            <a:r>
              <a:rPr lang="en-US" sz="2000" dirty="0"/>
              <a:t>Gradual expansion allows safety culture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1817731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D42E-CA1F-0F65-7E83-C5642BCE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D05CD-1DC3-44BC-9FC2-E9F00592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158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550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Trebuchet MS</vt:lpstr>
      <vt:lpstr>Wingdings</vt:lpstr>
      <vt:lpstr>Wingdings 3</vt:lpstr>
      <vt:lpstr>Facet</vt:lpstr>
      <vt:lpstr>Aviation Risk Analysis &amp; Recommendations</vt:lpstr>
      <vt:lpstr>Project overview</vt:lpstr>
      <vt:lpstr>Business Understanding</vt:lpstr>
      <vt:lpstr>Data Understanding</vt:lpstr>
      <vt:lpstr>Data Analysis - Risk Factors</vt:lpstr>
      <vt:lpstr>Visualization 1 - Manufacturer Risk Profile</vt:lpstr>
      <vt:lpstr>Aircraft Category Safety</vt:lpstr>
      <vt:lpstr>Accident severity by phase of flight 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</dc:creator>
  <cp:lastModifiedBy>DANIEL O</cp:lastModifiedBy>
  <cp:revision>2</cp:revision>
  <dcterms:created xsi:type="dcterms:W3CDTF">2025-12-16T00:26:05Z</dcterms:created>
  <dcterms:modified xsi:type="dcterms:W3CDTF">2025-12-17T23:57:04Z</dcterms:modified>
</cp:coreProperties>
</file>